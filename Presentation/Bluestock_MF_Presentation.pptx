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1.png"/><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image" Target="../media/image2.png"/><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image" Target="../media/image3.png"/><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image" Target="../media/image4.png"/><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80" y="348615"/>
            <a:ext cx="9799320" cy="1880235"/>
          </a:xfrm>
        </p:spPr>
        <p:txBody>
          <a:bodyPr>
            <a:normAutofit fontScale="90000"/>
          </a:bodyPr>
          <a:p>
            <a:r>
              <a:rPr lang="en-US" altLang="en-US" b="1">
                <a:latin typeface="Times New Roman" panose="02020603050405020304" charset="0"/>
                <a:cs typeface="Times New Roman" panose="02020603050405020304" charset="0"/>
              </a:rPr>
              <a:t>Mutual Fund Analytics Platform</a:t>
            </a:r>
            <a:endParaRPr lang="en-US" altLang="en-US" b="1">
              <a:latin typeface="Times New Roman" panose="02020603050405020304" charset="0"/>
              <a:cs typeface="Times New Roman" panose="02020603050405020304" charset="0"/>
            </a:endParaRPr>
          </a:p>
        </p:txBody>
      </p:sp>
      <p:sp>
        <p:nvSpPr>
          <p:cNvPr id="3" name="Subtitle 2"/>
          <p:cNvSpPr>
            <a:spLocks noGrp="1"/>
          </p:cNvSpPr>
          <p:nvPr>
            <p:ph type="subTitle" idx="1"/>
            <p:custDataLst>
              <p:tags r:id="rId2"/>
            </p:custDataLst>
          </p:nvPr>
        </p:nvSpPr>
        <p:spPr>
          <a:xfrm>
            <a:off x="1198880" y="2881630"/>
            <a:ext cx="9799320" cy="3161030"/>
          </a:xfrm>
        </p:spPr>
        <p:txBody>
          <a:bodyPr>
            <a:noAutofit/>
          </a:bodyPr>
          <a:p>
            <a:pPr algn="l"/>
            <a:r>
              <a:rPr lang="en-US" altLang="en-US" sz="3000" b="1">
                <a:solidFill>
                  <a:schemeClr val="tx1"/>
                </a:solidFill>
                <a:latin typeface="Times New Roman" panose="02020603050405020304" charset="0"/>
                <a:cs typeface="Times New Roman" panose="02020603050405020304" charset="0"/>
              </a:rPr>
              <a:t>Capstone Project – Bluestock Fintech Internship</a:t>
            </a:r>
            <a:endParaRPr lang="en-US" altLang="en-US" sz="3000" b="1">
              <a:solidFill>
                <a:schemeClr val="tx1"/>
              </a:solidFill>
              <a:latin typeface="Times New Roman" panose="02020603050405020304" charset="0"/>
              <a:cs typeface="Times New Roman" panose="02020603050405020304" charset="0"/>
            </a:endParaRPr>
          </a:p>
          <a:p>
            <a:pPr algn="l"/>
            <a:endParaRPr lang="en-US" altLang="en-US" sz="3000" b="1">
              <a:solidFill>
                <a:schemeClr val="tx1"/>
              </a:solidFill>
              <a:latin typeface="Times New Roman" panose="02020603050405020304" charset="0"/>
              <a:cs typeface="Times New Roman" panose="02020603050405020304" charset="0"/>
            </a:endParaRPr>
          </a:p>
          <a:p>
            <a:pPr algn="l"/>
            <a:endParaRPr lang="en-US" altLang="en-US" sz="3000" b="1">
              <a:solidFill>
                <a:schemeClr val="tx1"/>
              </a:solidFill>
              <a:latin typeface="Times New Roman" panose="02020603050405020304" charset="0"/>
              <a:cs typeface="Times New Roman" panose="02020603050405020304" charset="0"/>
            </a:endParaRPr>
          </a:p>
          <a:p>
            <a:pPr algn="l"/>
            <a:r>
              <a:rPr lang="en-US" altLang="en-US" sz="3000" b="1">
                <a:solidFill>
                  <a:schemeClr val="tx1"/>
                </a:solidFill>
                <a:latin typeface="Times New Roman" panose="02020603050405020304" charset="0"/>
                <a:cs typeface="Times New Roman" panose="02020603050405020304" charset="0"/>
              </a:rPr>
              <a:t>Presented By:</a:t>
            </a:r>
            <a:endParaRPr lang="en-US" altLang="en-US" sz="3000" b="1">
              <a:solidFill>
                <a:schemeClr val="tx1"/>
              </a:solidFill>
              <a:latin typeface="Times New Roman" panose="02020603050405020304" charset="0"/>
              <a:cs typeface="Times New Roman" panose="02020603050405020304" charset="0"/>
            </a:endParaRPr>
          </a:p>
          <a:p>
            <a:pPr algn="l"/>
            <a:r>
              <a:rPr lang="en-US" altLang="en-US" sz="3000" b="1">
                <a:solidFill>
                  <a:schemeClr val="tx1"/>
                </a:solidFill>
                <a:latin typeface="Times New Roman" panose="02020603050405020304" charset="0"/>
                <a:cs typeface="Times New Roman" panose="02020603050405020304" charset="0"/>
              </a:rPr>
              <a:t>Rohit M</a:t>
            </a:r>
            <a:endParaRPr lang="en-US" altLang="en-US" sz="3000" b="1">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176530"/>
            <a:ext cx="10968990" cy="767080"/>
          </a:xfrm>
        </p:spPr>
        <p:txBody>
          <a:bodyPr/>
          <a:p>
            <a:r>
              <a:rPr lang="en-US" altLang="en-US" b="1">
                <a:latin typeface="Times New Roman" panose="02020603050405020304" charset="0"/>
                <a:cs typeface="Times New Roman" panose="02020603050405020304" charset="0"/>
              </a:rPr>
              <a:t>Problem Statement &amp; Objectives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068070"/>
            <a:ext cx="10968990" cy="518160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Problem Statement :</a:t>
            </a:r>
            <a:endParaRPr lang="en-US" altLang="en-US" b="1">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The mutual fund industry generates large volumes of investment, performance, and investor data. Extracting meaningful insights from this data is essential for evaluating fund performance, understanding investor behavior, and supporting investment decisions.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Objectives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Build an end-to-end mutual fund analytics platform</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Perform data cleaning and validation</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Store data using SQLite</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Analyze fund performance and risk</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Study investor behavior and SIP trends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Develop an interactive Power BI dashboard</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227330"/>
            <a:ext cx="10968990" cy="655320"/>
          </a:xfrm>
        </p:spPr>
        <p:txBody>
          <a:bodyPr/>
          <a:p>
            <a:r>
              <a:rPr lang="en-US" altLang="en-US" b="1">
                <a:latin typeface="Times New Roman" panose="02020603050405020304" charset="0"/>
                <a:cs typeface="Times New Roman" panose="02020603050405020304" charset="0"/>
              </a:rPr>
              <a:t>Data Sources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016635"/>
            <a:ext cx="10968990" cy="5479415"/>
          </a:xfrm>
        </p:spPr>
        <p:txBody>
          <a:bodyPr>
            <a:normAutofit fontScale="90000" lnSpcReduction="10000"/>
          </a:bodyPr>
          <a:p>
            <a:pPr marL="0" indent="0">
              <a:buNone/>
            </a:pPr>
            <a:r>
              <a:rPr lang="en-US" altLang="en-US" b="1">
                <a:solidFill>
                  <a:schemeClr val="tx1"/>
                </a:solidFill>
                <a:latin typeface="Times New Roman" panose="02020603050405020304" charset="0"/>
                <a:cs typeface="Times New Roman" panose="02020603050405020304" charset="0"/>
              </a:rPr>
              <a:t>Datasets Used:</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Fund Master Data</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NAV History</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AUM by Fund House</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Monthly SIP Inflows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Category Inflows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Industry Folio Count</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Scheme Performance</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Investor Transactions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Portfolio Holdings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Benchmark Indices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Tools Used:</a:t>
            </a:r>
            <a:endParaRPr lang="en-US" altLang="en-US" b="1">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Python, Pandas, SQLite, Power BI</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184785"/>
            <a:ext cx="10968990" cy="663575"/>
          </a:xfrm>
        </p:spPr>
        <p:txBody>
          <a:bodyPr>
            <a:normAutofit/>
          </a:bodyPr>
          <a:p>
            <a:r>
              <a:rPr lang="en-US" altLang="en-US" b="1">
                <a:latin typeface="Times New Roman" panose="02020603050405020304" charset="0"/>
                <a:cs typeface="Times New Roman" panose="02020603050405020304" charset="0"/>
              </a:rPr>
              <a:t>ETL Architecture</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848360"/>
            <a:ext cx="10968990" cy="5741035"/>
          </a:xfrm>
        </p:spPr>
        <p:txBody>
          <a:bodyPr>
            <a:noAutofit/>
          </a:bodyPr>
          <a:p>
            <a:pPr marL="0" indent="0">
              <a:buNone/>
            </a:pPr>
            <a:r>
              <a:rPr lang="en-US" altLang="en-US" sz="1400" b="1">
                <a:solidFill>
                  <a:schemeClr val="tx1"/>
                </a:solidFill>
                <a:latin typeface="Times New Roman" panose="02020603050405020304" charset="0"/>
                <a:cs typeface="Times New Roman" panose="02020603050405020304" charset="0"/>
              </a:rPr>
              <a:t>Project Workflow :</a:t>
            </a:r>
            <a:endParaRPr lang="en-US" altLang="en-US" sz="1400" b="1">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Raw CSV Data</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Data Cleaning &amp; Validation</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SQLite Database</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SQL Analysis</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EDA &amp; Performance Analytics</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Advanced Risk Analytics</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a:t>
            </a:r>
            <a:endParaRPr lang="en-US" altLang="en-US" sz="1400">
              <a:solidFill>
                <a:schemeClr val="tx1"/>
              </a:solidFill>
              <a:latin typeface="Times New Roman" panose="02020603050405020304" charset="0"/>
              <a:cs typeface="Times New Roman" panose="02020603050405020304" charset="0"/>
            </a:endParaRPr>
          </a:p>
          <a:p>
            <a:pPr marL="0" indent="0">
              <a:buNone/>
            </a:pPr>
            <a:r>
              <a:rPr lang="en-US" altLang="en-US" sz="1400">
                <a:solidFill>
                  <a:schemeClr val="tx1"/>
                </a:solidFill>
                <a:latin typeface="Times New Roman" panose="02020603050405020304" charset="0"/>
                <a:cs typeface="Times New Roman" panose="02020603050405020304" charset="0"/>
              </a:rPr>
              <a:t>Power BI Dashboard</a:t>
            </a:r>
            <a:endParaRPr lang="en-US" altLang="en-US" sz="1400">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93065"/>
            <a:ext cx="10968990" cy="694690"/>
          </a:xfrm>
        </p:spPr>
        <p:txBody>
          <a:bodyPr/>
          <a:p>
            <a:r>
              <a:rPr lang="en-US" altLang="en-US" b="1">
                <a:latin typeface="Times New Roman" panose="02020603050405020304" charset="0"/>
                <a:cs typeface="Times New Roman" panose="02020603050405020304" charset="0"/>
              </a:rPr>
              <a:t>EDA Highlights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150620"/>
            <a:ext cx="10968990" cy="5099050"/>
          </a:xfrm>
        </p:spPr>
        <p:txBody>
          <a:bodyPr>
            <a:normAutofit fontScale="90000"/>
          </a:bodyPr>
          <a:p>
            <a:pPr marL="0" indent="0">
              <a:buNone/>
            </a:pPr>
            <a:r>
              <a:rPr lang="en-US" altLang="en-US" b="1">
                <a:solidFill>
                  <a:schemeClr val="tx1"/>
                </a:solidFill>
                <a:latin typeface="Times New Roman" panose="02020603050405020304" charset="0"/>
                <a:cs typeface="Times New Roman" panose="02020603050405020304" charset="0"/>
              </a:rPr>
              <a:t>NAV Trend Analysis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Analyzed NAV movement across 40 schemes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Identified growth trends and market corrections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SIP Inflow Analysis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Evaluated monthly SIP contributions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Observed consistent industry growth</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AUM Analysis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Compared Assets Under Management across AMCs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Identified market-leading fund houses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Folio Growth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Studied investor participation growth over time</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82905"/>
            <a:ext cx="10968990" cy="652145"/>
          </a:xfrm>
        </p:spPr>
        <p:txBody>
          <a:bodyPr>
            <a:normAutofit/>
          </a:bodyPr>
          <a:p>
            <a:r>
              <a:rPr lang="en-US" altLang="en-US" b="1">
                <a:latin typeface="Times New Roman" panose="02020603050405020304" charset="0"/>
                <a:cs typeface="Times New Roman" panose="02020603050405020304" charset="0"/>
              </a:rPr>
              <a:t>EDA Highlights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191895"/>
            <a:ext cx="10968990" cy="5057775"/>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Category Inflow Analysis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Compared inflows across fund categories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Investor Demographics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Age-group distribution</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Gender analysis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Geographical Analysis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State-wise investment comparison</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Tier-wise investor participation</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Sector Allocation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Evaluated portfolio sector concentration</a:t>
            </a:r>
            <a:endParaRPr lang="en-US" altLang="en-US">
              <a:solidFill>
                <a:schemeClr val="tx1"/>
              </a:solidFill>
              <a:latin typeface="Times New Roman" panose="02020603050405020304" charset="0"/>
              <a:cs typeface="Times New Roman" panose="02020603050405020304" charset="0"/>
            </a:endParaRPr>
          </a:p>
          <a:p>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402590"/>
            <a:ext cx="10968990" cy="757555"/>
          </a:xfrm>
        </p:spPr>
        <p:txBody>
          <a:bodyPr/>
          <a:p>
            <a:r>
              <a:rPr lang="en-US" altLang="en-US" b="1">
                <a:latin typeface="Times New Roman" panose="02020603050405020304" charset="0"/>
                <a:cs typeface="Times New Roman" panose="02020603050405020304" charset="0"/>
              </a:rPr>
              <a:t>Performance Analytics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160780"/>
            <a:ext cx="10968990" cy="508889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Metrics Calculated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Daily Returns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CAGR (1Y, 3Y, 5Y)</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Sharpe Ratio</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Sortino Ratio</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Purpose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Measure fund performance</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Compare risk-adjusted returns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Rank mutual fund schemes</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269240"/>
            <a:ext cx="10968990" cy="829310"/>
          </a:xfrm>
        </p:spPr>
        <p:txBody>
          <a:bodyPr/>
          <a:p>
            <a:r>
              <a:rPr lang="en-US" altLang="en-US" b="1">
                <a:latin typeface="Times New Roman" panose="02020603050405020304" charset="0"/>
                <a:cs typeface="Times New Roman" panose="02020603050405020304" charset="0"/>
              </a:rPr>
              <a:t>Advanced Risk Analytics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016635"/>
            <a:ext cx="10968990" cy="535686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Risk Metrics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Alpha</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Beta</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Maximum Drawdown</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Tracking Error</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Value at Risk (VaR)</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Conditional VaR (CVaR)</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Additional Analytics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Rolling 90-Day Sharpe Ratio</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Fund Scorecard Ranking</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Portfolio Concentration (HHI)</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258445"/>
            <a:ext cx="10968990" cy="901065"/>
          </a:xfrm>
        </p:spPr>
        <p:txBody>
          <a:bodyPr>
            <a:normAutofit fontScale="90000"/>
          </a:bodyPr>
          <a:p>
            <a:r>
              <a:rPr lang="en-US" altLang="en-US" b="1">
                <a:latin typeface="Times New Roman" panose="02020603050405020304" charset="0"/>
                <a:cs typeface="Times New Roman" panose="02020603050405020304" charset="0"/>
              </a:rPr>
              <a:t>Dashboard: Industry Overview &amp; Fund Performance</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326515"/>
            <a:ext cx="10968990" cy="512826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Industry Overview Dashboard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Total AUM</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SIP Inflows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Folio Count</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Scheme Count</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Fund Performance Dashboard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Risk vs Return Analysis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Fund Ranking</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Benchmark Comparison</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299720"/>
            <a:ext cx="10968990" cy="808990"/>
          </a:xfrm>
        </p:spPr>
        <p:txBody>
          <a:bodyPr/>
          <a:p>
            <a:r>
              <a:rPr lang="en-US" altLang="en-US" b="1">
                <a:latin typeface="Times New Roman" panose="02020603050405020304" charset="0"/>
                <a:cs typeface="Times New Roman" panose="02020603050405020304" charset="0"/>
                <a:sym typeface="+mn-ea"/>
              </a:rPr>
              <a:t>Industry Overview</a:t>
            </a:r>
            <a:endParaRPr lang="en-US"/>
          </a:p>
        </p:txBody>
      </p:sp>
      <p:pic>
        <p:nvPicPr>
          <p:cNvPr id="4" name="Content Placeholder 3" descr="page1 bi"/>
          <p:cNvPicPr>
            <a:picLocks noChangeAspect="1"/>
          </p:cNvPicPr>
          <p:nvPr>
            <p:ph idx="1"/>
            <p:custDataLst>
              <p:tags r:id="rId2"/>
            </p:custDataLst>
          </p:nvPr>
        </p:nvPicPr>
        <p:blipFill>
          <a:blip r:embed="rId3"/>
          <a:stretch>
            <a:fillRect/>
          </a:stretch>
        </p:blipFill>
        <p:spPr>
          <a:xfrm>
            <a:off x="1318895" y="1180465"/>
            <a:ext cx="9743440" cy="549021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125730"/>
            <a:ext cx="10968990" cy="869315"/>
          </a:xfrm>
        </p:spPr>
        <p:txBody>
          <a:bodyPr/>
          <a:p>
            <a:r>
              <a:rPr lang="en-US" altLang="en-US" b="1">
                <a:latin typeface="Times New Roman" panose="02020603050405020304" charset="0"/>
                <a:cs typeface="Times New Roman" panose="02020603050405020304" charset="0"/>
                <a:sym typeface="+mn-ea"/>
              </a:rPr>
              <a:t>Fund Performance</a:t>
            </a:r>
            <a:endParaRPr lang="en-US"/>
          </a:p>
        </p:txBody>
      </p:sp>
      <p:pic>
        <p:nvPicPr>
          <p:cNvPr id="4" name="Content Placeholder 3" descr="page2 bi"/>
          <p:cNvPicPr>
            <a:picLocks noChangeAspect="1"/>
          </p:cNvPicPr>
          <p:nvPr>
            <p:ph idx="1"/>
            <p:custDataLst>
              <p:tags r:id="rId2"/>
            </p:custDataLst>
          </p:nvPr>
        </p:nvPicPr>
        <p:blipFill>
          <a:blip r:embed="rId3"/>
          <a:stretch>
            <a:fillRect/>
          </a:stretch>
        </p:blipFill>
        <p:spPr>
          <a:xfrm>
            <a:off x="1043940" y="1066800"/>
            <a:ext cx="10034270" cy="526415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278765"/>
            <a:ext cx="10968990" cy="798195"/>
          </a:xfrm>
        </p:spPr>
        <p:txBody>
          <a:bodyPr>
            <a:normAutofit fontScale="90000"/>
          </a:bodyPr>
          <a:p>
            <a:r>
              <a:rPr lang="en-US" altLang="en-US" b="1">
                <a:latin typeface="Times New Roman" panose="02020603050405020304" charset="0"/>
                <a:cs typeface="Times New Roman" panose="02020603050405020304" charset="0"/>
              </a:rPr>
              <a:t>Dashboard: Investor Analytics &amp; Market Trends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202690"/>
            <a:ext cx="10968990" cy="5046980"/>
          </a:xfrm>
        </p:spPr>
        <p:txBody>
          <a:bodyPr>
            <a:normAutofit lnSpcReduction="20000"/>
          </a:bodyPr>
          <a:p>
            <a:pPr marL="0" indent="0">
              <a:buNone/>
            </a:pPr>
            <a:r>
              <a:rPr lang="en-US" altLang="en-US" b="1">
                <a:solidFill>
                  <a:schemeClr val="tx1"/>
                </a:solidFill>
                <a:latin typeface="Times New Roman" panose="02020603050405020304" charset="0"/>
                <a:cs typeface="Times New Roman" panose="02020603050405020304" charset="0"/>
              </a:rPr>
              <a:t>Investor Analytics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Transaction Analysis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Investor Demographics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State-wise Investments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SIP &amp; Market Trends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SIP Growth Trends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Category Inflows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Market Comparison</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10515"/>
            <a:ext cx="10968990" cy="746125"/>
          </a:xfrm>
        </p:spPr>
        <p:txBody>
          <a:bodyPr/>
          <a:p>
            <a:r>
              <a:rPr lang="en-US" altLang="en-US" b="1">
                <a:latin typeface="Times New Roman" panose="02020603050405020304" charset="0"/>
                <a:cs typeface="Times New Roman" panose="02020603050405020304" charset="0"/>
                <a:sym typeface="+mn-ea"/>
              </a:rPr>
              <a:t>Investor Analytics</a:t>
            </a:r>
            <a:endParaRPr lang="en-US"/>
          </a:p>
        </p:txBody>
      </p:sp>
      <p:pic>
        <p:nvPicPr>
          <p:cNvPr id="4" name="Content Placeholder 3" descr="page3 bi"/>
          <p:cNvPicPr>
            <a:picLocks noChangeAspect="1"/>
          </p:cNvPicPr>
          <p:nvPr>
            <p:ph idx="1"/>
            <p:custDataLst>
              <p:tags r:id="rId2"/>
            </p:custDataLst>
          </p:nvPr>
        </p:nvPicPr>
        <p:blipFill>
          <a:blip r:embed="rId3"/>
          <a:stretch>
            <a:fillRect/>
          </a:stretch>
        </p:blipFill>
        <p:spPr>
          <a:xfrm>
            <a:off x="1140460" y="1081405"/>
            <a:ext cx="9997440" cy="5297170"/>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82270"/>
            <a:ext cx="10968990" cy="777875"/>
          </a:xfrm>
        </p:spPr>
        <p:txBody>
          <a:bodyPr/>
          <a:p>
            <a:r>
              <a:rPr lang="en-US" altLang="en-US" b="1">
                <a:latin typeface="Times New Roman" panose="02020603050405020304" charset="0"/>
                <a:cs typeface="Times New Roman" panose="02020603050405020304" charset="0"/>
                <a:sym typeface="+mn-ea"/>
              </a:rPr>
              <a:t>Market Trends</a:t>
            </a:r>
            <a:endParaRPr lang="en-US"/>
          </a:p>
        </p:txBody>
      </p:sp>
      <p:pic>
        <p:nvPicPr>
          <p:cNvPr id="4" name="Content Placeholder 3" descr="page4 bi"/>
          <p:cNvPicPr>
            <a:picLocks noChangeAspect="1"/>
          </p:cNvPicPr>
          <p:nvPr>
            <p:ph idx="1"/>
            <p:custDataLst>
              <p:tags r:id="rId2"/>
            </p:custDataLst>
          </p:nvPr>
        </p:nvPicPr>
        <p:blipFill>
          <a:blip r:embed="rId3"/>
          <a:stretch>
            <a:fillRect/>
          </a:stretch>
        </p:blipFill>
        <p:spPr>
          <a:xfrm>
            <a:off x="998220" y="1268730"/>
            <a:ext cx="10115550" cy="5104765"/>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82905"/>
            <a:ext cx="10968990" cy="653415"/>
          </a:xfrm>
        </p:spPr>
        <p:txBody>
          <a:bodyPr/>
          <a:p>
            <a:r>
              <a:rPr lang="en-US" altLang="en-US" b="1">
                <a:latin typeface="Times New Roman" panose="02020603050405020304" charset="0"/>
                <a:cs typeface="Times New Roman" panose="02020603050405020304" charset="0"/>
              </a:rPr>
              <a:t>Key Findings &amp; Recommendations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202690"/>
            <a:ext cx="10968990" cy="504698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Key Findings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Risk-adjusted metrics provide better evaluation than absolute returns.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SIP inflows showed strong growth during the study period.</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Investor participation increased steadily across categories.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Certain funds consistently outperformed benchmarks.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Portfolio concentration varies significantly across schemes.</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Recommendations :</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Use Sharpe Ratio for fund comparison.</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Monitor drawdowns alongside returns.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Encourage SIP continuity to improve investor retention.</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382270"/>
            <a:ext cx="10968990" cy="675005"/>
          </a:xfrm>
        </p:spPr>
        <p:txBody>
          <a:bodyPr>
            <a:normAutofit/>
          </a:bodyPr>
          <a:p>
            <a:r>
              <a:rPr lang="en-US" altLang="en-US" b="1">
                <a:latin typeface="Times New Roman" panose="02020603050405020304" charset="0"/>
                <a:cs typeface="Times New Roman" panose="02020603050405020304" charset="0"/>
              </a:rPr>
              <a:t>Conclusion</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08330" y="1324610"/>
            <a:ext cx="10968990" cy="4925060"/>
          </a:xfrm>
        </p:spPr>
        <p:txBody>
          <a:bodyPr>
            <a:normAutofit/>
          </a:bodyPr>
          <a:p>
            <a:pPr marL="0" indent="0">
              <a:buNone/>
            </a:pPr>
            <a:r>
              <a:rPr lang="en-US" altLang="en-US" b="1">
                <a:solidFill>
                  <a:schemeClr val="tx1"/>
                </a:solidFill>
                <a:latin typeface="Times New Roman" panose="02020603050405020304" charset="0"/>
                <a:cs typeface="Times New Roman" panose="02020603050405020304" charset="0"/>
              </a:rPr>
              <a:t>Project Summary:</a:t>
            </a:r>
            <a:endParaRPr lang="en-US" altLang="en-US" b="1">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Built complete ETL pipeline</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Performed EDA and performance analytics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Developed advanced risk metrics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Created interactive Power BI dashboard</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Generated actionable investment insights</a:t>
            </a: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b="1">
                <a:solidFill>
                  <a:schemeClr val="tx1"/>
                </a:solidFill>
                <a:latin typeface="Times New Roman" panose="02020603050405020304" charset="0"/>
                <a:cs typeface="Times New Roman" panose="02020603050405020304" charset="0"/>
              </a:rPr>
              <a:t>GitHub Repository:</a:t>
            </a:r>
            <a:endParaRPr lang="en-US" altLang="en-US" b="1">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github.com/rohitmurthy2803/mutual_fund_analytics</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330" y="608330"/>
            <a:ext cx="10968990" cy="5472430"/>
          </a:xfrm>
        </p:spPr>
        <p:txBody>
          <a:bodyPr>
            <a:normAutofit/>
          </a:bodyPr>
          <a:p>
            <a:pPr algn="ctr"/>
            <a:r>
              <a:rPr lang="en-US" b="1">
                <a:latin typeface="Times New Roman" panose="02020603050405020304" charset="0"/>
                <a:cs typeface="Times New Roman" panose="02020603050405020304" charset="0"/>
              </a:rPr>
              <a:t>THANK YOU</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ROHIT M</a:t>
            </a:r>
            <a:endParaRPr lang="en-US" b="1">
              <a:latin typeface="Times New Roman" panose="02020603050405020304" charset="0"/>
              <a:cs typeface="Times New Roman" panose="02020603050405020304" charset="0"/>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3338</Words>
  <Application>WPS Presentation</Application>
  <PresentationFormat>Widescreen</PresentationFormat>
  <Paragraphs>165</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Wingdings</vt:lpstr>
      <vt:lpstr>Microsoft YaHei</vt:lpstr>
      <vt:lpstr>Arial Unicode MS</vt:lpstr>
      <vt:lpstr>Calibri</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Rohit</dc:creator>
  <cp:lastModifiedBy>Rohit M</cp:lastModifiedBy>
  <cp:revision>9</cp:revision>
  <dcterms:created xsi:type="dcterms:W3CDTF">2026-06-11T06:45:18Z</dcterms:created>
  <dcterms:modified xsi:type="dcterms:W3CDTF">2026-06-11T07:15:56Z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B5879B23D4AF4783B7888A8BE83383B4_11</vt:lpwstr>
  </property>
</Properties>
</file>